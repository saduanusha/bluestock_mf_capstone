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Top 10 Funds by 1-Year Return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1-Year Return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ABSL Small Cap</c:v>
                  </c:pt>
                  <c:pt idx="1">
                    <c:v>SBI Small Cap Reg</c:v>
                  </c:pt>
                  <c:pt idx="2">
                    <c:v>Axis Small Cap</c:v>
                  </c:pt>
                  <c:pt idx="3">
                    <c:v>Nippon Small Cap</c:v>
                  </c:pt>
                  <c:pt idx="4">
                    <c:v>SBI Small Cap Dir</c:v>
                  </c:pt>
                  <c:pt idx="5">
                    <c:v>HDFC Mid-Cap Dir</c:v>
                  </c:pt>
                  <c:pt idx="6">
                    <c:v>DSP Small Cap</c:v>
                  </c:pt>
                  <c:pt idx="7">
                    <c:v>UTI Flexicap</c:v>
                  </c:pt>
                  <c:pt idx="8">
                    <c:v>Kotak Emerging</c:v>
                  </c:pt>
                  <c:pt idx="9">
                    <c:v>ICICI Pru Midcap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24.93</c:v>
                </c:pt>
                <c:pt idx="1">
                  <c:v>24.56</c:v>
                </c:pt>
                <c:pt idx="2">
                  <c:v>21.97</c:v>
                </c:pt>
                <c:pt idx="3">
                  <c:v>21.3</c:v>
                </c:pt>
                <c:pt idx="4">
                  <c:v>20.59</c:v>
                </c:pt>
                <c:pt idx="5">
                  <c:v>19.85</c:v>
                </c:pt>
                <c:pt idx="6">
                  <c:v>20.12</c:v>
                </c:pt>
                <c:pt idx="7">
                  <c:v>17.45</c:v>
                </c:pt>
                <c:pt idx="8">
                  <c:v>17.12</c:v>
                </c:pt>
                <c:pt idx="9">
                  <c:v>14.02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D75"/>
          </a:solidFill>
          <a:ln w="12700">
            <a:solidFill>
              <a:srgbClr val="162D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&amp; Interactive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 Anusha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|  BlueStock Fintech MJ28  | 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926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926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 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926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₹81L Cr AUM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NAV, AUM &amp; SIP data across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risk-adjusted comparison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cannot track benchmark outperformance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 reports — no self-service dashboards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ETL pipeline from AMFI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normalised SQLite star schema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Sharpe, Alpha, Beta, VaR metrics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4-page interactive Power BI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fund recommender &amp; cohort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fund_master.csv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51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real schemes — AMFI codes, AMC, expense ratio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nav_history.csv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679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Jan 2022–May 2026 anchored to mfapi.in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aum_by_fund_house.csv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61188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AUM for 10 fund houses 2022–2025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monthly_sip_inflows.csv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1051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051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3990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AMFI Monthly Note SIP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investor_transactions.csv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233172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79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SIP/Lumpsum/Redemption for 5,000 investors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benchmark_indices.csv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361188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 rows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59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NIFTY50, NIFTY100, BSE SmallCap daily closes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ETL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CSVs  •  mfapi.in API  •  NSE/BSE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21408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21408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  •  Forward-fill  •  CAGR / Returns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85616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48656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85616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 •  5 Tables  •  SQLAlchemy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12864" y="100584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9824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•  Sharpe/Alpha/Beta  •  VaR  •  Cohort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4032" y="10058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14032" y="17373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82880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4-Page Dashboard  •  Slicers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SciPy  •  SQLite  •  SQLAlchemy  •  Power BI  •  Git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15+ Charts Created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NAV Trend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for all 40 schemes 2022–2026. Kotak Liquid leads at ₹4,200+ NAV.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AUM Growth by AMC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dominates at ₹12.5L Cr, followed by ICICI Pru and HDFC.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SIP Inflow Trend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climb from ₹11,500 Cr (Jan 2022) to all-time high ₹31,002 Cr (Dec 2025).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Geographic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Tamil Nadu lead state-wise SIP. T30 cities: 66.3% of transactions.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Investor Demographics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dominates (41.1%). Males: 66.5%, Females: 33.5%.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Correlation Matrix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cross-fund correlation confirms diversification benefit across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Fund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-52.6%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40 schemes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5 by Composite Score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2057400"/>
        </p:xfrm>
        <a:graphic>
          <a:graphicData uri="http://schemas.openxmlformats.org/drawingml/2006/table">
            <a:tbl>
              <a:tblPr/>
              <a:tblGrid>
                <a:gridCol w="3657600"/>
                <a:gridCol w="822960"/>
                <a:gridCol w="1097280"/>
                <a:gridCol w="822960"/>
                <a:gridCol w="9144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-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-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Return — All 40 Funds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84124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Interactive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AUM Growth Trend, AUM by Fund House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0515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vs Benchmark, Risk-Return Scatter, Scorecard 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0632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 Donut, Amount by State, Slicers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0632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+ Nifty50 Dual-axis, Category Heatmap, Top 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include interactive slicers: Fund House  •  Category  •  Plan  •  State  •  Date Range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Risk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VaR &amp; CVaR (95%)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funds: highest VaR at -2.7%/day. Liquid funds: lowest risk with VaR near -0.1%.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Rolling Sharpe Ratio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533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rolling Sharpe for top 5 funds. All funds show improving risk-adjusted returns post-2023.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Investor Cohort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cohort avg SIP ₹13,505 vs 2024 cohort ₹10,997. Newer investors commit more per transaction.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SIP Continuity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249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investors (1,332/1,362) flagged at-risk with avg SIP gap &gt; 35 days. High dropout risk.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Fund Recommender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965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Top 3 funds by Sharpe ratio per risk appetite: Low / Moderate / High.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Sector HHI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9651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HHI=0.206 (most concentrated). Diversified funds show HHI &lt; 0.10.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Findings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is India's largest AMC at ₹12.5 Lakh Crore AUM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all-time high of ₹31,002 Cr in Dec 2025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Cap: best risk-adjusted return (Sharpe 1.45)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Cap: highest alpha at +30.34% above benchmark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SIP investors have irregular contribution patterns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contribute 66.3% of total transaction volume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371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 • Kotak Liquid • ABSL Liquid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514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514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8620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• HDFC Top 100 • ICICI Pru Bluechip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56616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3657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40050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Emerging Equity • ICICI Pru Midcap • SBI Small Cap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— All Complete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914400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932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Setup + ETL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1612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data_ingestion.py, live_nav_fetch.py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179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1517904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Cleaning + SQLite 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76479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cleaned CSVs, bluestock_mf.db, schema.sql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214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25880" y="2121408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Analysis — 15+ Charts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3682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03_eda_analysis.ipynb, PNG charts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249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25880" y="2724912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Performance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29718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fund_scorecard.csv, alpha_beta.csv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284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25880" y="3328416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Power BI Dashboard (4 pages)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35753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bluestock_mf_dashboard.pbix, PDF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31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25880" y="3931920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950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Advanced Analytics + Risk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417880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var_cvar_report.csv, recommender.py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35424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5354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4535424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4553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Report + Presentation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782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Final_Report.pdf, Presentation.pptx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62D75"/>
          </a:solidFill>
          <a:ln w="12700">
            <a:solidFill>
              <a:srgbClr val="162D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Capstone — Mutual Fund Analytics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D75"/>
          </a:solidFill>
          <a:ln w="12700">
            <a:solidFill>
              <a:srgbClr val="2D4E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github.com/SaduAnusha/bluestock_mf_capstone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D75"/>
          </a:solidFill>
          <a:ln w="12700">
            <a:solidFill>
              <a:srgbClr val="2D4E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 Anusha  |  BlueStock Fintech MJ28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29184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162D75"/>
          </a:solidFill>
          <a:ln w="12700">
            <a:solidFill>
              <a:srgbClr val="2D4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AMFI India (amfiindia.com) &amp; mfapi.in  •  For educational purposes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Sadu Anusha</dc:creator>
  <cp:lastModifiedBy>Sadu Anusha</cp:lastModifiedBy>
  <cp:revision>1</cp:revision>
  <dcterms:created xsi:type="dcterms:W3CDTF">2026-06-10T04:57:00Z</dcterms:created>
  <dcterms:modified xsi:type="dcterms:W3CDTF">2026-06-10T04:57:00Z</dcterms:modified>
</cp:coreProperties>
</file>